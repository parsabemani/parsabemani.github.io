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0" r:id="rId5"/>
    <p:sldId id="284" r:id="rId6"/>
    <p:sldId id="260" r:id="rId7"/>
    <p:sldId id="271" r:id="rId8"/>
    <p:sldId id="263" r:id="rId9"/>
    <p:sldId id="274" r:id="rId10"/>
    <p:sldId id="282" r:id="rId11"/>
    <p:sldId id="281" r:id="rId12"/>
    <p:sldId id="256" r:id="rId13"/>
    <p:sldId id="264" r:id="rId14"/>
    <p:sldId id="279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clrMru>
    <a:srgbClr val="4F2683"/>
    <a:srgbClr val="3C1B71"/>
    <a:srgbClr val="F6AC41"/>
    <a:srgbClr val="DE3B3C"/>
    <a:srgbClr val="ABC61F"/>
    <a:srgbClr val="1573BD"/>
    <a:srgbClr val="807F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6E5B8-7CF2-1227-1A82-1E85FF135577}" v="121" dt="2026-08-18T16:18:47.289"/>
    <p1510:client id="{089CF751-E853-3A79-F833-709354486933}" v="1447" dt="2026-08-18T17:05:44.878"/>
    <p1510:client id="{45D6AF1C-BB05-40CF-8498-BEA3EC4F9C81}" v="1865" dt="2026-08-19T11:18:49.856"/>
    <p1510:client id="{4B5BEC0D-148B-AE84-FEF6-9EFFF93E8512}" v="8" dt="2026-08-18T15:14:13.127"/>
    <p1510:client id="{6828FC6B-C726-684F-D3E3-BD178F17F567}" v="293" dt="2026-08-19T02:41:35.636"/>
    <p1510:client id="{714C802E-BCA1-A3D7-B0D5-597A414FCEBD}" v="383" dt="2026-08-18T17:47:41.468"/>
    <p1510:client id="{74D6B378-9DD6-23B8-3DF9-492232B4C169}" v="441" dt="2026-08-18T17:32:43.083"/>
    <p1510:client id="{7E6521AE-77DE-AF40-B777-B72BC8EA4677}" v="5" dt="2026-08-18T16:33:54.689"/>
    <p1510:client id="{D2BB4A7F-289F-D9E9-03C8-49986D96895F}" v="44" dt="2026-08-18T17:45:27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E7E02-177F-1742-9B54-4359DFA80663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0D64E-5987-2D4B-9D87-3BA09D935B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91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97568-298B-6740-9B9F-550E69FACD2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C7D68-8AC4-0440-B1C1-67A64591B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58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01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 currently Up to 80% of medicines given to children in Canada are used off-label — meaning dosing, safety and formulation are extrapolated from adult data.</a:t>
            </a:r>
            <a:endParaRPr lang="en-US">
              <a:solidFill>
                <a:srgbClr val="444444"/>
              </a:solidFill>
            </a:endParaRPr>
          </a:p>
          <a:p>
            <a:br>
              <a:rPr lang="en-US">
                <a:cs typeface="+mn-lt"/>
              </a:rPr>
            </a:br>
            <a:r>
              <a:rPr lang="en-US">
                <a:ea typeface="Calibri"/>
                <a:cs typeface="+mn-lt"/>
              </a:rPr>
              <a:t>The reasons we have developed this strategy to increase access to pediatric drugs are because:</a:t>
            </a:r>
            <a:endParaRPr lang="en-US">
              <a:solidFill>
                <a:srgbClr val="444444"/>
              </a:solidFill>
              <a:ea typeface="Calibri"/>
              <a:cs typeface="+mn-lt"/>
            </a:endParaRPr>
          </a:p>
          <a:p>
            <a:br>
              <a:rPr lang="en-US">
                <a:cs typeface="+mn-lt"/>
              </a:rPr>
            </a:br>
            <a:r>
              <a:rPr lang="en-US"/>
              <a:t>1) Most pediatric medication are given off label —Which means dosages are reduced or medicines are diluted instead of being specifically designed for children</a:t>
            </a:r>
            <a:endParaRPr lang="en-US">
              <a:solidFill>
                <a:srgbClr val="444444"/>
              </a:solidFill>
              <a:ea typeface="Calibri"/>
              <a:cs typeface="Calibri"/>
            </a:endParaRPr>
          </a:p>
          <a:p>
            <a:br>
              <a:rPr lang="en-US">
                <a:cs typeface="+mn-lt"/>
              </a:rPr>
            </a:br>
            <a:r>
              <a:rPr lang="en-US"/>
              <a:t>2) Children are not small adults — They have developmental differences and therefore metabolize drugs differently than adults</a:t>
            </a:r>
            <a:endParaRPr lang="en-US">
              <a:solidFill>
                <a:srgbClr val="444444"/>
              </a:solidFill>
            </a:endParaRPr>
          </a:p>
          <a:p>
            <a:br>
              <a:rPr lang="en-US">
                <a:cs typeface="+mn-lt"/>
              </a:rPr>
            </a:br>
            <a:r>
              <a:rPr lang="en-US"/>
              <a:t>3) The barriers are system-wide — ethics and consent/assent, recruitment logistics, limited trial infrastructure. No single actor can solve this alone.</a:t>
            </a:r>
            <a:endParaRPr lang="en-US">
              <a:solidFill>
                <a:srgbClr val="444444"/>
              </a:solidFill>
            </a:endParaRPr>
          </a:p>
          <a:p>
            <a:br>
              <a:rPr lang="en-US">
                <a:cs typeface="+mn-lt"/>
              </a:rPr>
            </a:br>
            <a:r>
              <a:rPr lang="en-US"/>
              <a:t>So our strategy aligns levers across government and regulators and sets a measurable path to increase access to pediatric medication through increasing clinical trials</a:t>
            </a:r>
            <a:endParaRPr lang="en-US">
              <a:solidFill>
                <a:srgbClr val="444444"/>
              </a:solidFill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16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99C21-C508-C351-8938-80B906E7F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4B217-30F3-529D-0AC1-C0CCC4591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A45707-54EB-517A-AF2B-FFE23A1C7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FD7CC-EDF7-4E30-E3B6-61DC4FED3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16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524000"/>
            <a:ext cx="5486400" cy="4114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first group are the end users — the people the strategy is ultimately for. </a:t>
            </a:r>
          </a:p>
          <a:p>
            <a:endParaRPr lang="en-US"/>
          </a:p>
          <a:p>
            <a:r>
              <a:rPr lang="en-US"/>
              <a:t>Two sub-groups: pediatric patients, and their families and caregivers. </a:t>
            </a:r>
          </a:p>
          <a:p>
            <a:r>
              <a:rPr lang="en-US"/>
              <a:t>
1) Pediatric patients will include children and youth under 18, including those who joined, declined or could not access a trial. They matter because their lived experience is what tells us the outcomes trials should measure and the burdens children will accept.</a:t>
            </a:r>
          </a:p>
          <a:p>
            <a:endParaRPr lang="en-US"/>
          </a:p>
          <a:p>
            <a:r>
              <a:rPr lang="en-US"/>
              <a:t>2) Families and caregivers  are also a major subcategory because they hold consent and absorb the practical burden: time off work, travel, childcare, cost. That burden is what decides whether a child enrolls and stays enrolled. 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>
                <a:solidFill>
                  <a:srgbClr val="000000"/>
                </a:solidFill>
                <a:ea typeface="Calibri"/>
                <a:cs typeface="Calibri"/>
              </a:rPr>
              <a:t>This entire group of stakeholders will be engaged through family interviews and youth panels that will have the opportunity to voice their inputs in workshops with monthly follow ups plus a quarterly review of overall satisfaction. </a:t>
            </a:r>
          </a:p>
          <a:p>
            <a:br>
              <a:rPr lang="en-US">
                <a:cs typeface="+mn-lt"/>
              </a:rPr>
            </a:br>
            <a:endParaRPr lang="en-US">
              <a:solidFill>
                <a:srgbClr val="44444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642C1-A200-2E5C-3C20-274804931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F4CF1-823A-71FF-4B6A-7B44AB186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524000"/>
            <a:ext cx="5486400" cy="41148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A31A1-7E63-9692-44AF-5195B5989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 is the end users — the people the strategy is ultimately for. Two sub-groups: pediatric patients, and their families and caregivers. Both are Consulted at every phase; our sponsor stays Accountable.</a:t>
            </a:r>
          </a:p>
          <a:p>
            <a:r>
              <a:rPr lang="en-US"/>
              <a:t>
1) Pediatric patients — children and youth under 18, including those who joined, declined or could not access a trial. They matter because their lived experience is what tells us the outcomes trials should measure and the burdens children will accept. Engaged through age-banded youth panels and co-design workshops, with trained facilitators, assent, accessibility supports and honoraria — two sessions plus a monthly micro-survey.</a:t>
            </a:r>
          </a:p>
          <a:p>
            <a:r>
              <a:rPr lang="en-US"/>
              <a:t>
2) Families and caregivers — they hold consent and absorb the practical burden: time off work, travel, childcare, cost. That burden is what decides whether a child </a:t>
            </a:r>
            <a:r>
              <a:rPr lang="en-US" err="1"/>
              <a:t>enrols</a:t>
            </a:r>
            <a:r>
              <a:rPr lang="en-US"/>
              <a:t> and stays enrolled. Engaged through a Family Advisory Council, multilingual surveys, interviews and journey mapping, with hybrid and evening options and travel reimbursement; monthly during design, then a 'What We Heard / What Changed' report within six weeks and quarterly updates.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
The through-line: we close the loop — every group is told what changed because of their input.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FC510-F240-F64D-7A83-E7FD7D7F8B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54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F4A39-69F7-D0C7-D51B-B24932D06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80AA5C-2849-E0F4-67E9-9460306AA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524000"/>
            <a:ext cx="5486400" cy="41148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C32CB-F40B-5711-451F-4C3F80631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Group 1 is the end users — the people the strategy is ultimately for. Two sub-groups: pediatric patients, and their families and caregivers. Both are Consulted at every phase; our sponsor stays Accountable.
1) Pediatric patients — children and youth under 18, including those who joined, declined or could not access a trial. They matter because their lived experience is what tells us the outcomes trials should measure and the burdens children will accept. Engaged through age-banded youth panels and co-design workshops, with trained facilitators, assent, accessibility supports and honoraria — two sessions plus a monthly micro-survey.
2) Families and caregivers — they hold consent and absorb the practical burden: time off work, travel, childcare, cost. That burden is what decides whether a child enrols and stays enrolled. Engaged through a Family Advisory Council, multilingual surveys, interviews and journey mapping, with hybrid and evening options and travel reimbursement; monthly during design, then a 'What We Heard / What Changed' report within six weeks and quarterly updates.
The through-line: we close the loop — every group is told what changed because of their input.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2C0EF-7031-F360-CF93-4DF4430F2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87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524000"/>
            <a:ext cx="5486400" cy="41148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16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recap, our objective is to increase access to pediatric medication by advancing clinical trials — designed </a:t>
            </a:r>
            <a:r>
              <a:rPr lang="en-US" b="1" dirty="0"/>
              <a:t>with</a:t>
            </a:r>
            <a:r>
              <a:rPr lang="en-US" dirty="0"/>
              <a:t> the people it affects.</a:t>
            </a:r>
          </a:p>
          <a:p>
            <a:endParaRPr lang="en-US"/>
          </a:p>
          <a:p>
            <a:r>
              <a:rPr lang="en-US"/>
              <a:t>Three things to remember.</a:t>
            </a:r>
          </a:p>
          <a:p>
            <a:endParaRPr lang="en-US"/>
          </a:p>
          <a:p>
            <a:r>
              <a:rPr lang="en-US" b="1"/>
              <a:t>One.</a:t>
            </a:r>
            <a:r>
              <a:rPr lang="en-US"/>
              <a:t> Children are still dosed on adult evidence. Diluting an adult pill isn't pediatric data.</a:t>
            </a:r>
          </a:p>
          <a:p>
            <a:endParaRPr lang="en-US"/>
          </a:p>
          <a:p>
            <a:r>
              <a:rPr lang="en-US" b="1"/>
              <a:t>Two.</a:t>
            </a:r>
            <a:r>
              <a:rPr lang="en-US"/>
              <a:t> Engagement is the mechanism. The barriers cut across the system, so every group has a role and a timeline.</a:t>
            </a:r>
          </a:p>
          <a:p>
            <a:endParaRPr lang="en-US"/>
          </a:p>
          <a:p>
            <a:r>
              <a:rPr lang="en-US" b="1" dirty="0"/>
              <a:t>Three.</a:t>
            </a:r>
            <a:r>
              <a:rPr lang="en-US" dirty="0"/>
              <a:t> We close the loop. Every recommendation is logged, and reported back.</a:t>
            </a:r>
            <a:endParaRPr lang="en-US" dirty="0">
              <a:ea typeface="Calibri"/>
              <a:cs typeface="Calibri"/>
            </a:endParaRPr>
          </a:p>
          <a:p>
            <a:endParaRPr lang="en-US"/>
          </a:p>
          <a:p>
            <a:r>
              <a:rPr lang="en-US"/>
              <a:t>Because better evidence for children begins with the people who live it."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 dirty="0"/>
              <a:t>
</a:t>
            </a:r>
            <a:r>
              <a:rPr lang="en-US"/>
              <a:t>Ultimately, better evidence for children begins with the people who live it.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DC7D68-8AC4-0440-B1C1-67A64591BBB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419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73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36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723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21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41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25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4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86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90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8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4A24-CCD4-E849-8882-22BD847D2D4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5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098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897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34A24-CCD4-E849-8882-22BD847D2D4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F8058-3785-FA4E-971F-CD59832881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7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457200" rtl="0" eaLnBrk="1" latinLnBrk="0" hangingPunct="1">
        <a:spcBef>
          <a:spcPct val="0"/>
        </a:spcBef>
        <a:spcAft>
          <a:spcPts val="1200"/>
        </a:spcAft>
        <a:buNone/>
        <a:defRPr sz="5000" b="1" i="0" kern="1200" baseline="0">
          <a:solidFill>
            <a:srgbClr val="3C1B71"/>
          </a:solidFill>
          <a:latin typeface="Arial"/>
          <a:ea typeface="+mj-ea"/>
          <a:cs typeface="+mj-cs"/>
        </a:defRPr>
      </a:lvl1pPr>
    </p:titleStyle>
    <p:bodyStyle>
      <a:lvl1pPr marL="687600" indent="-687600" algn="l" defTabSz="457200" rtl="0" eaLnBrk="1" latinLnBrk="0" hangingPunct="1">
        <a:spcBef>
          <a:spcPts val="0"/>
        </a:spcBef>
        <a:spcAft>
          <a:spcPts val="2400"/>
        </a:spcAft>
        <a:buSzPct val="75000"/>
        <a:buFont typeface="Arial"/>
        <a:buChar char="•"/>
        <a:defRPr sz="2800" kern="1200" baseline="0">
          <a:solidFill>
            <a:srgbClr val="807F83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807F83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807F83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807F83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807F83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745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199" y="584484"/>
            <a:ext cx="845076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6000" b="1">
                <a:solidFill>
                  <a:srgbClr val="3C1B71"/>
                </a:solidFill>
                <a:latin typeface="Times New Roman"/>
                <a:ea typeface="+mn-lt"/>
                <a:cs typeface="Times New Roman"/>
              </a:rPr>
              <a:t>Strategy Presentation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00889" y="104972"/>
            <a:ext cx="3189111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600" b="1">
                <a:solidFill>
                  <a:srgbClr val="4F2683"/>
                </a:solidFill>
                <a:latin typeface="Arial"/>
                <a:cs typeface="Arial"/>
              </a:rPr>
              <a:t>MEDSCIEN 9503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2DD16-DA26-3A6A-3C72-248E71966445}"/>
              </a:ext>
            </a:extLst>
          </p:cNvPr>
          <p:cNvSpPr txBox="1"/>
          <p:nvPr/>
        </p:nvSpPr>
        <p:spPr>
          <a:xfrm>
            <a:off x="459186" y="2588019"/>
            <a:ext cx="822353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Times New Roman"/>
                <a:ea typeface="Calibri"/>
                <a:cs typeface="Times New Roman"/>
              </a:rPr>
              <a:t>Parsa Bemani, </a:t>
            </a:r>
            <a:r>
              <a:rPr lang="en-US">
                <a:latin typeface="Times New Roman"/>
                <a:ea typeface="+mn-lt"/>
                <a:cs typeface="Times New Roman"/>
              </a:rPr>
              <a:t>Smruti Sharma, </a:t>
            </a:r>
            <a:r>
              <a:rPr lang="en-US" err="1">
                <a:latin typeface="Times New Roman"/>
                <a:ea typeface="+mn-lt"/>
                <a:cs typeface="Times New Roman"/>
              </a:rPr>
              <a:t>Jeyany</a:t>
            </a:r>
            <a:r>
              <a:rPr lang="en-US">
                <a:latin typeface="Times New Roman"/>
                <a:ea typeface="+mn-lt"/>
                <a:cs typeface="Times New Roman"/>
              </a:rPr>
              <a:t> Jeyakumar, Teagan Benson</a:t>
            </a:r>
            <a:endParaRPr lang="en-US"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A010E1-4605-BAE0-9AF2-5F9A9C7F18A3}"/>
              </a:ext>
            </a:extLst>
          </p:cNvPr>
          <p:cNvSpPr txBox="1"/>
          <p:nvPr/>
        </p:nvSpPr>
        <p:spPr>
          <a:xfrm>
            <a:off x="627132" y="1820612"/>
            <a:ext cx="77481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Times New Roman"/>
                <a:ea typeface="Calibri"/>
                <a:cs typeface="Times New Roman"/>
              </a:rPr>
              <a:t>Increasing access to pediatric medication through advancing clinical trials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62E723-66DA-3F1F-DD64-7A092F7C3C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012" y="3262201"/>
            <a:ext cx="5752595" cy="213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21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F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1131570"/>
            <a:ext cx="8366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75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Why develop a strategy on access to pediatric drugs?</a:t>
            </a:r>
            <a:endParaRPr lang="en-US" sz="1875"/>
          </a:p>
        </p:txBody>
      </p:sp>
      <p:sp>
        <p:nvSpPr>
          <p:cNvPr id="3" name="Text 1"/>
          <p:cNvSpPr/>
          <p:nvPr/>
        </p:nvSpPr>
        <p:spPr>
          <a:xfrm>
            <a:off x="377190" y="1577340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CCF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Increasing access through advancing pediatric clinical trials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342900" y="2400300"/>
            <a:ext cx="24688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80%</a:t>
            </a:r>
            <a:endParaRPr lang="en-US" sz="6000"/>
          </a:p>
        </p:txBody>
      </p:sp>
      <p:sp>
        <p:nvSpPr>
          <p:cNvPr id="5" name="Text 3"/>
          <p:cNvSpPr/>
          <p:nvPr/>
        </p:nvSpPr>
        <p:spPr>
          <a:xfrm>
            <a:off x="397764" y="3463290"/>
            <a:ext cx="2331720" cy="788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 medicines are prescribed off-label to children in Canada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397764" y="4286250"/>
            <a:ext cx="23317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B7A5D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 to 80%  |  Health Canada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3223260" y="3222829"/>
            <a:ext cx="5520690" cy="973836"/>
          </a:xfrm>
          <a:prstGeom prst="roundRect">
            <a:avLst>
              <a:gd name="adj" fmla="val 7042"/>
            </a:avLst>
          </a:prstGeom>
          <a:solidFill>
            <a:srgbClr val="3D1D66"/>
          </a:solidFill>
          <a:ln w="12700">
            <a:solidFill>
              <a:srgbClr val="5F3D8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3429000" y="3600019"/>
            <a:ext cx="137160" cy="137160"/>
          </a:xfrm>
          <a:prstGeom prst="ellipse">
            <a:avLst/>
          </a:prstGeom>
          <a:solidFill>
            <a:srgbClr val="7DEAFB"/>
          </a:solidFill>
          <a:ln w="12700">
            <a:solidFill>
              <a:srgbClr val="7DEAF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703320" y="3359989"/>
            <a:ext cx="4869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Children are not small adults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3703320" y="3648025"/>
            <a:ext cx="48691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CCF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Dosing extrapolated from adult evidence carries avoidable safety risk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3223260" y="2032168"/>
            <a:ext cx="5520690" cy="973836"/>
          </a:xfrm>
          <a:prstGeom prst="roundRect">
            <a:avLst>
              <a:gd name="adj" fmla="val 7042"/>
            </a:avLst>
          </a:prstGeom>
          <a:solidFill>
            <a:srgbClr val="3D1D66"/>
          </a:solidFill>
          <a:ln w="12700">
            <a:solidFill>
              <a:srgbClr val="5F3D8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3429000" y="2409358"/>
            <a:ext cx="137160" cy="137160"/>
          </a:xfrm>
          <a:prstGeom prst="ellipse">
            <a:avLst/>
          </a:prstGeom>
          <a:solidFill>
            <a:srgbClr val="7DEAFB"/>
          </a:solidFill>
          <a:ln w="12700">
            <a:solidFill>
              <a:srgbClr val="7DEAF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3703320" y="2255592"/>
            <a:ext cx="4869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Most medications for pediatrics are off-label</a:t>
            </a:r>
            <a:endParaRPr lang="en-US" sz="1400" b="1">
              <a:solidFill>
                <a:srgbClr val="000000"/>
              </a:solidFill>
              <a:latin typeface="Tahoma"/>
              <a:ea typeface="Tahoma"/>
              <a:cs typeface="Tahoma"/>
            </a:endParaRPr>
          </a:p>
          <a:p>
            <a:pPr marL="0" indent="0">
              <a:buNone/>
            </a:pPr>
            <a:endParaRPr lang="en-US" sz="1400" b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703320" y="2532845"/>
            <a:ext cx="48691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DCCFEC"/>
                </a:solidFill>
                <a:latin typeface="Tahoma"/>
                <a:ea typeface="Tahoma"/>
                <a:cs typeface="Tahoma"/>
              </a:rPr>
              <a:t>Adult medication are given to children by dilution or reducing the dosage</a:t>
            </a:r>
            <a:endParaRPr lang="en-US" sz="1000">
              <a:solidFill>
                <a:srgbClr val="000000"/>
              </a:solidFill>
              <a:latin typeface="Tahoma"/>
              <a:ea typeface="Tahoma"/>
              <a:cs typeface="Tahoma"/>
            </a:endParaRPr>
          </a:p>
          <a:p>
            <a:endParaRPr lang="en-US" sz="1000">
              <a:solidFill>
                <a:srgbClr val="DCCFEC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23260" y="4389120"/>
            <a:ext cx="5520690" cy="973836"/>
          </a:xfrm>
          <a:prstGeom prst="roundRect">
            <a:avLst>
              <a:gd name="adj" fmla="val 7042"/>
            </a:avLst>
          </a:prstGeom>
          <a:solidFill>
            <a:srgbClr val="3D1D66"/>
          </a:solidFill>
          <a:ln w="12700">
            <a:solidFill>
              <a:srgbClr val="5F3D8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3429000" y="4766310"/>
            <a:ext cx="137160" cy="137160"/>
          </a:xfrm>
          <a:prstGeom prst="ellipse">
            <a:avLst/>
          </a:prstGeom>
          <a:solidFill>
            <a:srgbClr val="7DEAFB"/>
          </a:solidFill>
          <a:ln w="12700">
            <a:solidFill>
              <a:srgbClr val="7DEAF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703320" y="4526280"/>
            <a:ext cx="4869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Barriers cut across the system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3703320" y="4814316"/>
            <a:ext cx="48691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CCFE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Industry, regulators, funders, clinicians and families must move together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377190" y="5486400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 strategy turns a shared problem into coordinated, accountable action.</a:t>
            </a:r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407954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E1B63D-E64B-309E-2B14-1D0C44E80A49}"/>
              </a:ext>
            </a:extLst>
          </p:cNvPr>
          <p:cNvSpPr txBox="1"/>
          <p:nvPr/>
        </p:nvSpPr>
        <p:spPr>
          <a:xfrm>
            <a:off x="1151822" y="619946"/>
            <a:ext cx="6848350" cy="86177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CA" sz="5000" b="1">
                <a:solidFill>
                  <a:srgbClr val="3C1B71"/>
                </a:solidFill>
                <a:latin typeface="Times New Roman"/>
                <a:cs typeface="Times New Roman"/>
              </a:rPr>
              <a:t>Challenges and Barriers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34B54C-5EAF-0036-5503-852EC4F0876E}"/>
              </a:ext>
            </a:extLst>
          </p:cNvPr>
          <p:cNvSpPr txBox="1"/>
          <p:nvPr/>
        </p:nvSpPr>
        <p:spPr>
          <a:xfrm>
            <a:off x="550911" y="1896665"/>
            <a:ext cx="8053505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CA" sz="2800">
                <a:latin typeface="Times New Roman"/>
                <a:ea typeface="Calibri"/>
                <a:cs typeface="Times New Roman"/>
              </a:rPr>
              <a:t>Adult clinical trials ≠ Pediatric clinical trials</a:t>
            </a:r>
          </a:p>
          <a:p>
            <a:pPr marL="914400" lvl="1" indent="-457200">
              <a:buFont typeface="Courier New"/>
              <a:buChar char="o"/>
            </a:pPr>
            <a:r>
              <a:rPr lang="en-CA" sz="2800">
                <a:latin typeface="Times New Roman"/>
                <a:ea typeface="Calibri"/>
                <a:cs typeface="Times New Roman"/>
              </a:rPr>
              <a:t>Children are not just "small adults"</a:t>
            </a:r>
          </a:p>
          <a:p>
            <a:pPr marL="457200" indent="-457200">
              <a:buFont typeface="Arial,Sans-Serif"/>
              <a:buChar char="•"/>
            </a:pPr>
            <a:r>
              <a:rPr lang="en-CA" sz="2800">
                <a:latin typeface="Times New Roman"/>
                <a:ea typeface="Calibri"/>
                <a:cs typeface="Times New Roman"/>
              </a:rPr>
              <a:t>Ethical and regulatory concerns regarding under-aged sample</a:t>
            </a:r>
          </a:p>
          <a:p>
            <a:pPr marL="457200" indent="-457200">
              <a:buFont typeface="Arial,Sans-Serif"/>
              <a:buChar char="•"/>
            </a:pPr>
            <a:r>
              <a:rPr lang="en-CA" sz="2800">
                <a:latin typeface="Times New Roman"/>
                <a:ea typeface="Calibri"/>
                <a:cs typeface="Times New Roman"/>
              </a:rPr>
              <a:t>Increased complexity which leads to more costs</a:t>
            </a:r>
          </a:p>
          <a:p>
            <a:pPr marL="914400" lvl="1" indent="-457200">
              <a:buFont typeface="Courier New"/>
              <a:buChar char="o"/>
            </a:pPr>
            <a:r>
              <a:rPr lang="en-CA" sz="2800">
                <a:latin typeface="Times New Roman"/>
                <a:ea typeface="Calibri"/>
                <a:cs typeface="Times New Roman"/>
              </a:rPr>
              <a:t>Unappealing for pharmaceutical companies to fund</a:t>
            </a:r>
          </a:p>
          <a:p>
            <a:pPr marL="914400" lvl="1" indent="-457200">
              <a:buFont typeface="Courier New"/>
              <a:buChar char="o"/>
            </a:pPr>
            <a:endParaRPr lang="en-CA" sz="2800">
              <a:latin typeface="Arial"/>
              <a:ea typeface="Calibri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AC8697-B037-8C99-CB2D-C54C268761FC}"/>
              </a:ext>
            </a:extLst>
          </p:cNvPr>
          <p:cNvSpPr txBox="1"/>
          <p:nvPr/>
        </p:nvSpPr>
        <p:spPr>
          <a:xfrm>
            <a:off x="5009867" y="99434"/>
            <a:ext cx="41309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600">
                <a:solidFill>
                  <a:srgbClr val="4F2683"/>
                </a:solidFill>
                <a:latin typeface="Times New Roman"/>
                <a:cs typeface="Times New Roman"/>
              </a:rPr>
              <a:t>Increasing access to pediatric medication </a:t>
            </a:r>
          </a:p>
        </p:txBody>
      </p:sp>
    </p:spTree>
    <p:extLst>
      <p:ext uri="{BB962C8B-B14F-4D97-AF65-F5344CB8AC3E}">
        <p14:creationId xmlns:p14="http://schemas.microsoft.com/office/powerpoint/2010/main" val="3425814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43BC4-F4D5-9555-5AC1-3698C17E0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C7C510-1F9E-F65B-9E4B-118A360AC953}"/>
              </a:ext>
            </a:extLst>
          </p:cNvPr>
          <p:cNvSpPr txBox="1"/>
          <p:nvPr/>
        </p:nvSpPr>
        <p:spPr>
          <a:xfrm>
            <a:off x="5014219" y="62442"/>
            <a:ext cx="41309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600">
                <a:solidFill>
                  <a:srgbClr val="4F2683"/>
                </a:solidFill>
                <a:latin typeface="Times New Roman"/>
                <a:cs typeface="Times New Roman"/>
              </a:rPr>
              <a:t>Increasing access to pediatric medication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BB8E6E-C97D-84E9-2F77-752FB752887E}"/>
              </a:ext>
            </a:extLst>
          </p:cNvPr>
          <p:cNvSpPr txBox="1"/>
          <p:nvPr/>
        </p:nvSpPr>
        <p:spPr>
          <a:xfrm>
            <a:off x="3600484" y="404332"/>
            <a:ext cx="1992469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CA" sz="4800" b="1">
                <a:solidFill>
                  <a:srgbClr val="3C1B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64909D-B953-3B53-2E2C-A93C55FB096A}"/>
              </a:ext>
            </a:extLst>
          </p:cNvPr>
          <p:cNvSpPr txBox="1"/>
          <p:nvPr/>
        </p:nvSpPr>
        <p:spPr>
          <a:xfrm>
            <a:off x="454014" y="1428364"/>
            <a:ext cx="80535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>
                <a:latin typeface="Times New Roman" panose="02020603050405020304" pitchFamily="18" charset="0"/>
                <a:cs typeface="Times New Roman" panose="02020603050405020304" pitchFamily="18" charset="0"/>
              </a:rPr>
              <a:t>To build ethical and sustainable pediatric clinical research trials where children receive treatments that are safe and designed for their developmental needs </a:t>
            </a:r>
          </a:p>
          <a:p>
            <a:endParaRPr lang="en-CA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EA4073-D68B-F1F7-DC5A-3327FA92804C}"/>
              </a:ext>
            </a:extLst>
          </p:cNvPr>
          <p:cNvSpPr txBox="1"/>
          <p:nvPr/>
        </p:nvSpPr>
        <p:spPr>
          <a:xfrm>
            <a:off x="971206" y="3648866"/>
            <a:ext cx="771878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3200">
                <a:latin typeface="Times New Roman" panose="02020603050405020304" pitchFamily="18" charset="0"/>
                <a:cs typeface="Times New Roman" panose="02020603050405020304" pitchFamily="18" charset="0"/>
              </a:rPr>
              <a:t>Evidence-based care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3200">
                <a:latin typeface="Times New Roman" panose="02020603050405020304" pitchFamily="18" charset="0"/>
                <a:cs typeface="Times New Roman" panose="02020603050405020304" pitchFamily="18" charset="0"/>
              </a:rPr>
              <a:t>Trust and Transparency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320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working towards child health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320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 </a:t>
            </a:r>
          </a:p>
          <a:p>
            <a:endParaRPr lang="en-CA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170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8274" y="573851"/>
            <a:ext cx="8005704" cy="86177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200"/>
              </a:spcAft>
            </a:pPr>
            <a:r>
              <a:rPr lang="en-US" sz="5000" b="1">
                <a:solidFill>
                  <a:srgbClr val="3B1B70"/>
                </a:solidFill>
                <a:latin typeface="Times New Roman"/>
                <a:cs typeface="Times New Roman"/>
              </a:rPr>
              <a:t>Proposed Solution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52ADA-E411-4C63-F5B4-4E675FDFDBC8}"/>
              </a:ext>
            </a:extLst>
          </p:cNvPr>
          <p:cNvSpPr txBox="1"/>
          <p:nvPr/>
        </p:nvSpPr>
        <p:spPr>
          <a:xfrm>
            <a:off x="355089" y="1566908"/>
            <a:ext cx="8002050" cy="27853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,Sans-Serif"/>
              <a:buChar char="•"/>
            </a:pPr>
            <a:r>
              <a:rPr lang="en-US" sz="2500">
                <a:latin typeface="Times New Roman"/>
                <a:ea typeface="Calibri"/>
                <a:cs typeface="Times New Roman"/>
              </a:rPr>
              <a:t>Increase funding and incentives for pediatric medication research</a:t>
            </a:r>
          </a:p>
          <a:p>
            <a:pPr marL="457200" indent="-457200">
              <a:buFont typeface="Arial,Sans-Serif"/>
              <a:buChar char="•"/>
            </a:pPr>
            <a:r>
              <a:rPr lang="en-US" sz="2500">
                <a:latin typeface="Times New Roman"/>
                <a:ea typeface="Calibri"/>
                <a:cs typeface="Times New Roman"/>
              </a:rPr>
              <a:t>Support more pediatric-specific clinical trials</a:t>
            </a:r>
          </a:p>
          <a:p>
            <a:pPr marL="457200" indent="-457200">
              <a:buFont typeface="Arial,Sans-Serif"/>
              <a:buChar char="•"/>
            </a:pPr>
            <a:r>
              <a:rPr lang="en-US" sz="2500">
                <a:latin typeface="Times New Roman"/>
                <a:ea typeface="Calibri"/>
                <a:cs typeface="Times New Roman"/>
              </a:rPr>
              <a:t>Generate better evidence on dosing, safety, and effectiveness</a:t>
            </a:r>
          </a:p>
          <a:p>
            <a:pPr marL="457200" indent="-457200">
              <a:buFont typeface="Arial,Sans-Serif"/>
              <a:buChar char="•"/>
            </a:pPr>
            <a:r>
              <a:rPr lang="en-US" sz="2500">
                <a:latin typeface="Times New Roman"/>
                <a:ea typeface="Calibri"/>
                <a:cs typeface="Times New Roman"/>
              </a:rPr>
              <a:t>Encourage research on both new and existing medications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E5766-71F3-B9A9-7285-199F122FA555}"/>
              </a:ext>
            </a:extLst>
          </p:cNvPr>
          <p:cNvSpPr txBox="1"/>
          <p:nvPr/>
        </p:nvSpPr>
        <p:spPr>
          <a:xfrm>
            <a:off x="4946072" y="141964"/>
            <a:ext cx="41309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600">
                <a:solidFill>
                  <a:srgbClr val="4F2683"/>
                </a:solidFill>
                <a:latin typeface="Times New Roman"/>
                <a:cs typeface="Times New Roman"/>
              </a:rPr>
              <a:t>Increasing access to pediatric medication </a:t>
            </a:r>
          </a:p>
        </p:txBody>
      </p:sp>
    </p:spTree>
    <p:extLst>
      <p:ext uri="{BB962C8B-B14F-4D97-AF65-F5344CB8AC3E}">
        <p14:creationId xmlns:p14="http://schemas.microsoft.com/office/powerpoint/2010/main" val="3170482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542098"/>
            <a:ext cx="8366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4F2683"/>
                </a:solidFill>
                <a:latin typeface="Times New Roman" panose="02020603050405020304" pitchFamily="18" charset="0"/>
                <a:ea typeface="Tahoma" pitchFamily="34" charset="-122"/>
                <a:cs typeface="Times New Roman" panose="02020603050405020304" pitchFamily="18" charset="0"/>
              </a:rPr>
              <a:t>Key Stakeholders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34038" y="1047018"/>
            <a:ext cx="75438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8F55E0"/>
                </a:solidFill>
                <a:latin typeface="Times New Roman" panose="02020603050405020304" pitchFamily="18" charset="0"/>
                <a:ea typeface="Tahoma" pitchFamily="34" charset="-122"/>
                <a:cs typeface="Times New Roman" panose="02020603050405020304" pitchFamily="18" charset="0"/>
              </a:rPr>
              <a:t>Group 1: The End Users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2726" y="1448016"/>
            <a:ext cx="4026307" cy="4524985"/>
          </a:xfrm>
          <a:prstGeom prst="roundRect">
            <a:avLst>
              <a:gd name="adj" fmla="val 2041"/>
            </a:avLst>
          </a:prstGeom>
          <a:solidFill>
            <a:srgbClr val="F2EDF8"/>
          </a:solidFill>
          <a:ln w="12700">
            <a:solidFill>
              <a:srgbClr val="DED2EE"/>
            </a:solidFill>
            <a:prstDash val="solid"/>
          </a:ln>
        </p:spPr>
        <p:txBody>
          <a:bodyPr/>
          <a:lstStyle/>
          <a:p>
            <a:endParaRPr lang="en-CA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2688" y="1544272"/>
            <a:ext cx="493776" cy="493776"/>
          </a:xfrm>
          <a:prstGeom prst="ellipse">
            <a:avLst/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03" y="1664287"/>
            <a:ext cx="253746" cy="2537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2688" y="2210160"/>
            <a:ext cx="3490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4F2683"/>
                </a:solidFill>
                <a:latin typeface="Times New Roman" panose="02020603050405020304" pitchFamily="18" charset="0"/>
                <a:ea typeface="Tahoma" pitchFamily="34" charset="-122"/>
                <a:cs typeface="Times New Roman" panose="02020603050405020304" pitchFamily="18" charset="0"/>
              </a:rPr>
              <a:t>Pediatric Patients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2688" y="2613215"/>
            <a:ext cx="34907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818284"/>
                </a:solidFill>
                <a:latin typeface="Times New Roman"/>
                <a:ea typeface="Tahoma"/>
                <a:cs typeface="Times New Roman"/>
              </a:rPr>
              <a:t>Children and youth under 18</a:t>
            </a:r>
            <a:endParaRPr lang="en-US" sz="1400" b="1">
              <a:latin typeface="Times New Roman"/>
              <a:ea typeface="Tahoma"/>
              <a:cs typeface="Times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5178" y="3029324"/>
            <a:ext cx="349072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5">
                <a:solidFill>
                  <a:srgbClr val="8F55E0"/>
                </a:solidFill>
                <a:latin typeface="Times New Roman" panose="02020603050405020304" pitchFamily="18" charset="0"/>
                <a:ea typeface="Tahoma" pitchFamily="34" charset="-122"/>
                <a:cs typeface="Times New Roman" panose="02020603050405020304" pitchFamily="18" charset="0"/>
              </a:rPr>
              <a:t>WHY THEY MATTER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85179" y="3351406"/>
            <a:ext cx="3878909" cy="71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-122"/>
                <a:cs typeface="Times New Roman" panose="02020603050405020304" pitchFamily="18" charset="0"/>
              </a:rPr>
              <a:t>Lived experience defines the outcomes, burdens and formulations that actually matter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5179" y="4483565"/>
            <a:ext cx="349072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5">
                <a:solidFill>
                  <a:srgbClr val="8F55E0"/>
                </a:solidFill>
                <a:latin typeface="Times New Roman" panose="02020603050405020304" pitchFamily="18" charset="0"/>
                <a:ea typeface="Tahoma" pitchFamily="34" charset="-122"/>
                <a:cs typeface="Times New Roman" panose="02020603050405020304" pitchFamily="18" charset="0"/>
              </a:rPr>
              <a:t>HOW WE ENGAGE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5178" y="4791270"/>
            <a:ext cx="3835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ea typeface="Tahoma" pitchFamily="34" charset="-122"/>
                <a:cs typeface="Times New Roman" panose="02020603050405020304" pitchFamily="18" charset="0"/>
              </a:rPr>
              <a:t>Age-banded youth panels and co-design workshops; two sessions plus a monthly micro-survey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617663" y="1462393"/>
            <a:ext cx="3983176" cy="4524985"/>
          </a:xfrm>
          <a:prstGeom prst="roundRect">
            <a:avLst>
              <a:gd name="adj" fmla="val 2041"/>
            </a:avLst>
          </a:prstGeom>
          <a:solidFill>
            <a:srgbClr val="F2EDF8"/>
          </a:solidFill>
          <a:ln w="12700">
            <a:solidFill>
              <a:srgbClr val="DED2EE"/>
            </a:solidFill>
            <a:prstDash val="solid"/>
          </a:ln>
        </p:spPr>
        <p:txBody>
          <a:bodyPr/>
          <a:lstStyle/>
          <a:p>
            <a:endParaRPr lang="en-CA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734493" y="1529896"/>
            <a:ext cx="493776" cy="493776"/>
          </a:xfrm>
          <a:prstGeom prst="ellipse">
            <a:avLst/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508" y="1649911"/>
            <a:ext cx="253746" cy="25374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48870" y="2210160"/>
            <a:ext cx="4396494" cy="14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4F2683"/>
                </a:solidFill>
                <a:latin typeface="Times New Roman"/>
                <a:ea typeface="Tahoma"/>
                <a:cs typeface="Times New Roman"/>
              </a:rPr>
              <a:t>Families/Caregivers</a:t>
            </a:r>
            <a:endParaRPr lang="en-US" sz="28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748871" y="2613215"/>
            <a:ext cx="34907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818284"/>
                </a:solidFill>
                <a:latin typeface="Times New Roman"/>
                <a:ea typeface="Tahoma"/>
                <a:cs typeface="Times New Roman"/>
              </a:rPr>
              <a:t>Parents, guardians, unpaid caregivers</a:t>
            </a:r>
            <a:endParaRPr lang="en-US" sz="1400" b="1">
              <a:latin typeface="Times New Roman"/>
              <a:ea typeface="Tahoma"/>
              <a:cs typeface="Times New Roman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705739" y="3029324"/>
            <a:ext cx="349072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5">
                <a:solidFill>
                  <a:srgbClr val="8F55E0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WHY THEY MATTER</a:t>
            </a:r>
            <a:endParaRPr lang="en-US" sz="1100"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705739" y="3423292"/>
            <a:ext cx="3792646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Hold consent, and carry the time, travel and cost burden that decides enrolment and retention</a:t>
            </a:r>
            <a:endParaRPr lang="en-US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705739" y="4397301"/>
            <a:ext cx="349072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5">
                <a:solidFill>
                  <a:srgbClr val="8F55E0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HOW WE ENGAGE</a:t>
            </a:r>
            <a:endParaRPr lang="en-US" sz="1100"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4734493" y="4791270"/>
            <a:ext cx="37638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Family Advisory Council, multilingual surveys and interviews; monthly, then “What We Heard / What Changed”</a:t>
            </a:r>
            <a:endParaRPr lang="en-US"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382726" y="6110824"/>
            <a:ext cx="8298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4F2683"/>
                </a:solidFill>
                <a:latin typeface="Times New Roman" panose="02020603050405020304" pitchFamily="18" charset="0"/>
                <a:ea typeface="Tahoma" pitchFamily="34" charset="-122"/>
                <a:cs typeface="Times New Roman" panose="02020603050405020304" pitchFamily="18" charset="0"/>
              </a:rPr>
              <a:t>Engaged from planning through implementation — and told what changed because of their input.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19493A-2F0C-5573-0096-E3AFD668F25F}"/>
              </a:ext>
            </a:extLst>
          </p:cNvPr>
          <p:cNvSpPr txBox="1"/>
          <p:nvPr/>
        </p:nvSpPr>
        <p:spPr>
          <a:xfrm>
            <a:off x="4946072" y="141964"/>
            <a:ext cx="41309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600">
                <a:solidFill>
                  <a:srgbClr val="4F2683"/>
                </a:solidFill>
                <a:latin typeface="Times New Roman"/>
                <a:cs typeface="Times New Roman"/>
              </a:rPr>
              <a:t>Increasing access to pediatric medication </a:t>
            </a:r>
          </a:p>
        </p:txBody>
      </p:sp>
    </p:spTree>
    <p:extLst>
      <p:ext uri="{BB962C8B-B14F-4D97-AF65-F5344CB8AC3E}">
        <p14:creationId xmlns:p14="http://schemas.microsoft.com/office/powerpoint/2010/main" val="3879493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37D32-72AE-78DA-E6FE-F5EF93B5C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CE13B2-E628-C304-5170-1146806BEA9D}"/>
              </a:ext>
            </a:extLst>
          </p:cNvPr>
          <p:cNvSpPr/>
          <p:nvPr/>
        </p:nvSpPr>
        <p:spPr>
          <a:xfrm>
            <a:off x="377190" y="542098"/>
            <a:ext cx="8366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4F2683"/>
                </a:solidFill>
                <a:latin typeface="Times New Roman" panose="02020603050405020304" pitchFamily="18" charset="0"/>
                <a:ea typeface="Tahoma" pitchFamily="34" charset="-122"/>
                <a:cs typeface="Times New Roman" panose="02020603050405020304" pitchFamily="18" charset="0"/>
              </a:rPr>
              <a:t>Key Stakeholders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2E4121-1A0C-7D93-8888-0D4C8AED012E}"/>
              </a:ext>
            </a:extLst>
          </p:cNvPr>
          <p:cNvSpPr/>
          <p:nvPr/>
        </p:nvSpPr>
        <p:spPr>
          <a:xfrm>
            <a:off x="434038" y="1047018"/>
            <a:ext cx="75438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8F55E0"/>
                </a:solidFill>
                <a:latin typeface="Times New Roman"/>
                <a:ea typeface="Tahoma"/>
                <a:cs typeface="Times New Roman"/>
              </a:rPr>
              <a:t>Group 2: The Facilitators</a:t>
            </a:r>
            <a:endParaRPr lang="en-US" sz="2000">
              <a:latin typeface="Times New Roman"/>
              <a:ea typeface="Tahoma"/>
              <a:cs typeface="Times New Roman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F32179A-7ABD-7E13-912C-A25EBAF19AB8}"/>
              </a:ext>
            </a:extLst>
          </p:cNvPr>
          <p:cNvSpPr/>
          <p:nvPr/>
        </p:nvSpPr>
        <p:spPr>
          <a:xfrm>
            <a:off x="382726" y="1448016"/>
            <a:ext cx="4026307" cy="4524985"/>
          </a:xfrm>
          <a:prstGeom prst="roundRect">
            <a:avLst>
              <a:gd name="adj" fmla="val 2041"/>
            </a:avLst>
          </a:prstGeom>
          <a:solidFill>
            <a:srgbClr val="F2EDF8"/>
          </a:solidFill>
          <a:ln w="12700">
            <a:solidFill>
              <a:srgbClr val="DED2EE"/>
            </a:solidFill>
            <a:prstDash val="solid"/>
          </a:ln>
        </p:spPr>
        <p:txBody>
          <a:bodyPr/>
          <a:lstStyle/>
          <a:p>
            <a:endParaRPr lang="en-CA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C583971-634A-2F5E-1770-D356621D868A}"/>
              </a:ext>
            </a:extLst>
          </p:cNvPr>
          <p:cNvSpPr/>
          <p:nvPr/>
        </p:nvSpPr>
        <p:spPr>
          <a:xfrm>
            <a:off x="542688" y="1544272"/>
            <a:ext cx="493776" cy="493776"/>
          </a:xfrm>
          <a:prstGeom prst="ellipse">
            <a:avLst/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F2E20A0-6C16-6C1D-9D09-0C8525CA5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03" y="1664287"/>
            <a:ext cx="253746" cy="25374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79F18015-E64B-6FC0-24E0-2B711103633F}"/>
              </a:ext>
            </a:extLst>
          </p:cNvPr>
          <p:cNvSpPr/>
          <p:nvPr/>
        </p:nvSpPr>
        <p:spPr>
          <a:xfrm>
            <a:off x="542688" y="2210160"/>
            <a:ext cx="3490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4F2683"/>
                </a:solidFill>
                <a:latin typeface="Times New Roman"/>
                <a:ea typeface="Tahoma"/>
                <a:cs typeface="Times New Roman"/>
              </a:rPr>
              <a:t>The Government</a:t>
            </a:r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466F931-8C16-9B86-A565-F2702F3AF4F4}"/>
              </a:ext>
            </a:extLst>
          </p:cNvPr>
          <p:cNvSpPr/>
          <p:nvPr/>
        </p:nvSpPr>
        <p:spPr>
          <a:xfrm>
            <a:off x="542688" y="2613215"/>
            <a:ext cx="34907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i="1">
                <a:solidFill>
                  <a:srgbClr val="818284"/>
                </a:solidFill>
                <a:latin typeface="Times New Roman"/>
                <a:ea typeface="Tahoma"/>
                <a:cs typeface="Times New Roman"/>
              </a:rPr>
              <a:t>Government Officials and Political Parties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D79B230-E716-1DCC-43C7-B5BA9FF28801}"/>
              </a:ext>
            </a:extLst>
          </p:cNvPr>
          <p:cNvSpPr/>
          <p:nvPr/>
        </p:nvSpPr>
        <p:spPr>
          <a:xfrm>
            <a:off x="485178" y="3029324"/>
            <a:ext cx="349072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75">
                <a:solidFill>
                  <a:srgbClr val="8F55E0"/>
                </a:solidFill>
                <a:latin typeface="Times New Roman" panose="02020603050405020304" pitchFamily="18" charset="0"/>
                <a:ea typeface="Tahoma" pitchFamily="34" charset="-122"/>
                <a:cs typeface="Times New Roman" panose="02020603050405020304" pitchFamily="18" charset="0"/>
              </a:rPr>
              <a:t>WHY THEY MATTER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FFA0446-E6D7-E4E4-5C7A-E2859BD3D944}"/>
              </a:ext>
            </a:extLst>
          </p:cNvPr>
          <p:cNvSpPr/>
          <p:nvPr/>
        </p:nvSpPr>
        <p:spPr>
          <a:xfrm>
            <a:off x="485179" y="3542792"/>
            <a:ext cx="3878909" cy="71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00000"/>
                </a:solidFill>
                <a:latin typeface="Times New Roman"/>
                <a:ea typeface="Tahoma"/>
                <a:cs typeface="Times New Roman"/>
              </a:rPr>
              <a:t>Pass legislation to mandate more funding for research focusing on pediatric clinical trials.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706306F-A640-966A-D14D-E89E8BCADDA1}"/>
              </a:ext>
            </a:extLst>
          </p:cNvPr>
          <p:cNvSpPr/>
          <p:nvPr/>
        </p:nvSpPr>
        <p:spPr>
          <a:xfrm>
            <a:off x="485179" y="4398505"/>
            <a:ext cx="349072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75">
                <a:solidFill>
                  <a:srgbClr val="8F55E0"/>
                </a:solidFill>
                <a:latin typeface="Times New Roman" panose="02020603050405020304" pitchFamily="18" charset="0"/>
                <a:ea typeface="Tahoma" pitchFamily="34" charset="-122"/>
                <a:cs typeface="Times New Roman" panose="02020603050405020304" pitchFamily="18" charset="0"/>
              </a:rPr>
              <a:t>HOW WE ENGAGE</a:t>
            </a:r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C01B7AD-7DB1-E9B1-BDDB-BB13CF3B23EC}"/>
              </a:ext>
            </a:extLst>
          </p:cNvPr>
          <p:cNvSpPr/>
          <p:nvPr/>
        </p:nvSpPr>
        <p:spPr>
          <a:xfrm>
            <a:off x="485178" y="5035819"/>
            <a:ext cx="3835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latin typeface="Times New Roman"/>
                <a:ea typeface="Tahoma"/>
                <a:cs typeface="Times New Roman"/>
              </a:rPr>
              <a:t>Call to action through social media and high out-reach news outlets; Work with researchers and government officials to develop an act (may require a few years).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D0D71F1-B18D-B107-C299-8530C8D01BCB}"/>
              </a:ext>
            </a:extLst>
          </p:cNvPr>
          <p:cNvSpPr/>
          <p:nvPr/>
        </p:nvSpPr>
        <p:spPr>
          <a:xfrm>
            <a:off x="4617663" y="1462393"/>
            <a:ext cx="3983176" cy="4524985"/>
          </a:xfrm>
          <a:prstGeom prst="roundRect">
            <a:avLst>
              <a:gd name="adj" fmla="val 2041"/>
            </a:avLst>
          </a:prstGeom>
          <a:solidFill>
            <a:srgbClr val="F2EDF8"/>
          </a:solidFill>
          <a:ln w="12700">
            <a:solidFill>
              <a:srgbClr val="DED2EE"/>
            </a:solidFill>
            <a:prstDash val="solid"/>
          </a:ln>
        </p:spPr>
        <p:txBody>
          <a:bodyPr/>
          <a:lstStyle/>
          <a:p>
            <a:endParaRPr lang="en-CA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8BD387B-C107-2511-FCA1-3307A43C2421}"/>
              </a:ext>
            </a:extLst>
          </p:cNvPr>
          <p:cNvSpPr/>
          <p:nvPr/>
        </p:nvSpPr>
        <p:spPr>
          <a:xfrm>
            <a:off x="4734493" y="1529896"/>
            <a:ext cx="493776" cy="493776"/>
          </a:xfrm>
          <a:prstGeom prst="ellipse">
            <a:avLst/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B9B0E7A5-1253-276C-B775-843667B80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508" y="1649911"/>
            <a:ext cx="253746" cy="253746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BDCBC718-8EE0-69BD-DA4C-8D47BE756E98}"/>
              </a:ext>
            </a:extLst>
          </p:cNvPr>
          <p:cNvSpPr/>
          <p:nvPr/>
        </p:nvSpPr>
        <p:spPr>
          <a:xfrm>
            <a:off x="4748870" y="2210160"/>
            <a:ext cx="4396494" cy="14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4F2683"/>
                </a:solidFill>
                <a:latin typeface="Times New Roman"/>
                <a:ea typeface="Tahoma"/>
                <a:cs typeface="Times New Roman"/>
              </a:rPr>
              <a:t>Private Donors</a:t>
            </a:r>
            <a:endParaRPr 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9EB2FCB-3C87-3EDF-9641-075D9F951E19}"/>
              </a:ext>
            </a:extLst>
          </p:cNvPr>
          <p:cNvSpPr/>
          <p:nvPr/>
        </p:nvSpPr>
        <p:spPr>
          <a:xfrm>
            <a:off x="4748871" y="2613215"/>
            <a:ext cx="34907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i="1">
                <a:solidFill>
                  <a:srgbClr val="818284"/>
                </a:solidFill>
                <a:latin typeface="Times New Roman"/>
                <a:ea typeface="Tahoma"/>
                <a:cs typeface="Times New Roman"/>
              </a:rPr>
              <a:t>Non-Government Organizations &amp; Donors</a:t>
            </a:r>
            <a:endParaRPr lang="en-US" sz="1500">
              <a:ea typeface="Calibri"/>
              <a:cs typeface="Calibri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F4AB484-E507-F9D4-292C-DB92FFE5C494}"/>
              </a:ext>
            </a:extLst>
          </p:cNvPr>
          <p:cNvSpPr/>
          <p:nvPr/>
        </p:nvSpPr>
        <p:spPr>
          <a:xfrm>
            <a:off x="4705739" y="3029324"/>
            <a:ext cx="349072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75">
                <a:solidFill>
                  <a:srgbClr val="8F55E0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WHY THEY MATTER</a:t>
            </a:r>
            <a:endParaRPr lang="en-US" sz="1200"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23F54D37-7D61-C290-4AC3-DC58CA8C552C}"/>
              </a:ext>
            </a:extLst>
          </p:cNvPr>
          <p:cNvSpPr/>
          <p:nvPr/>
        </p:nvSpPr>
        <p:spPr>
          <a:xfrm>
            <a:off x="4705739" y="3604046"/>
            <a:ext cx="3792646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00000"/>
                </a:solidFill>
                <a:latin typeface="Times New Roman"/>
                <a:ea typeface="Tahoma"/>
                <a:cs typeface="Times New Roman"/>
              </a:rPr>
              <a:t>Useful in providing more money than what government-affiliated funding associations can offer.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20A2F5F2-29D5-75E2-5987-66B8B9DBC0F6}"/>
              </a:ext>
            </a:extLst>
          </p:cNvPr>
          <p:cNvSpPr/>
          <p:nvPr/>
        </p:nvSpPr>
        <p:spPr>
          <a:xfrm>
            <a:off x="4705739" y="4397301"/>
            <a:ext cx="349072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75">
                <a:solidFill>
                  <a:srgbClr val="8F55E0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</a:rPr>
              <a:t>HOW WE ENGAGE</a:t>
            </a:r>
            <a:endParaRPr lang="en-US" sz="1200"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7EF7ABF5-A97B-1982-6A32-5CDC31A3C502}"/>
              </a:ext>
            </a:extLst>
          </p:cNvPr>
          <p:cNvSpPr/>
          <p:nvPr/>
        </p:nvSpPr>
        <p:spPr>
          <a:xfrm>
            <a:off x="4734493" y="5035819"/>
            <a:ext cx="37638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00000"/>
                </a:solidFill>
                <a:latin typeface="Times New Roman"/>
                <a:ea typeface="Tahoma"/>
                <a:cs typeface="Times New Roman"/>
              </a:rPr>
              <a:t>Reaching out to NGOs and raising awareness about the importance of pediatric clinical trials so they are more inclined to fund research projects.</a:t>
            </a:r>
          </a:p>
          <a:p>
            <a:pPr marL="0" indent="0">
              <a:buNone/>
            </a:pPr>
            <a:endParaRPr lang="en-US" sz="2000">
              <a:latin typeface="Times New Roman" panose="02020603050405020304" pitchFamily="18" charset="0"/>
              <a:ea typeface="Tahoma"/>
              <a:cs typeface="Times New Roman" panose="02020603050405020304" pitchFamily="18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3B56DBB3-D465-07FA-D689-1D01D397CF73}"/>
              </a:ext>
            </a:extLst>
          </p:cNvPr>
          <p:cNvSpPr/>
          <p:nvPr/>
        </p:nvSpPr>
        <p:spPr>
          <a:xfrm>
            <a:off x="382726" y="6110824"/>
            <a:ext cx="8298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4F2683"/>
                </a:solidFill>
                <a:latin typeface="Times New Roman" panose="02020603050405020304" pitchFamily="18" charset="0"/>
                <a:ea typeface="Tahoma" pitchFamily="34" charset="-122"/>
                <a:cs typeface="Times New Roman" panose="02020603050405020304" pitchFamily="18" charset="0"/>
              </a:rPr>
              <a:t>Engaged from planning through implementation — and told what changed because of their input.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20FAA5-518C-2AFF-78EB-25BBAA80349A}"/>
              </a:ext>
            </a:extLst>
          </p:cNvPr>
          <p:cNvSpPr txBox="1"/>
          <p:nvPr/>
        </p:nvSpPr>
        <p:spPr>
          <a:xfrm>
            <a:off x="4946072" y="141964"/>
            <a:ext cx="4130964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600">
                <a:solidFill>
                  <a:srgbClr val="4F2683"/>
                </a:solidFill>
                <a:latin typeface="Times New Roman"/>
                <a:cs typeface="Times New Roman"/>
              </a:rPr>
              <a:t>Increasing access to pediatric medication </a:t>
            </a:r>
          </a:p>
        </p:txBody>
      </p:sp>
    </p:spTree>
    <p:extLst>
      <p:ext uri="{BB962C8B-B14F-4D97-AF65-F5344CB8AC3E}">
        <p14:creationId xmlns:p14="http://schemas.microsoft.com/office/powerpoint/2010/main" val="2703410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1CECD-567C-4582-E87C-8A3FE6046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331359-C875-A6DD-99A3-49AD0B6C1544}"/>
              </a:ext>
            </a:extLst>
          </p:cNvPr>
          <p:cNvSpPr/>
          <p:nvPr/>
        </p:nvSpPr>
        <p:spPr>
          <a:xfrm>
            <a:off x="388479" y="663081"/>
            <a:ext cx="8366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500" b="1">
                <a:solidFill>
                  <a:srgbClr val="4F2683"/>
                </a:solidFill>
                <a:latin typeface="Times New Roman"/>
                <a:ea typeface="Tahoma"/>
                <a:cs typeface="Times New Roman"/>
              </a:rPr>
              <a:t>Key Stakeholders</a:t>
            </a:r>
            <a:endParaRPr lang="en-US" sz="3500">
              <a:latin typeface="Times New Roman"/>
              <a:ea typeface="Tahoma"/>
              <a:cs typeface="Times New Roman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63C18AB-FD14-DCF4-9DE9-B22028283F0C}"/>
              </a:ext>
            </a:extLst>
          </p:cNvPr>
          <p:cNvSpPr/>
          <p:nvPr/>
        </p:nvSpPr>
        <p:spPr>
          <a:xfrm>
            <a:off x="394124" y="1108852"/>
            <a:ext cx="7538155" cy="577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latin typeface="Times New Roman"/>
                <a:ea typeface="Tahoma"/>
                <a:cs typeface="Times New Roman"/>
              </a:rPr>
              <a:t>Group 3: Research and Industry 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endParaRPr lang="en-US" sz="1100" b="1">
              <a:solidFill>
                <a:srgbClr val="8F55E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5D3A9B8-FBF9-A5B6-F125-78F2A9B581F4}"/>
              </a:ext>
            </a:extLst>
          </p:cNvPr>
          <p:cNvSpPr/>
          <p:nvPr/>
        </p:nvSpPr>
        <p:spPr>
          <a:xfrm>
            <a:off x="428412" y="1644932"/>
            <a:ext cx="3994998" cy="4720730"/>
          </a:xfrm>
          <a:prstGeom prst="roundRect">
            <a:avLst>
              <a:gd name="adj" fmla="val 2041"/>
            </a:avLst>
          </a:prstGeom>
          <a:solidFill>
            <a:srgbClr val="F2EDF8"/>
          </a:solidFill>
          <a:ln w="12700">
            <a:solidFill>
              <a:srgbClr val="DED2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0484F09-E3FF-090E-E21D-92D72DE7C902}"/>
              </a:ext>
            </a:extLst>
          </p:cNvPr>
          <p:cNvSpPr/>
          <p:nvPr/>
        </p:nvSpPr>
        <p:spPr>
          <a:xfrm>
            <a:off x="638217" y="1811584"/>
            <a:ext cx="493776" cy="493776"/>
          </a:xfrm>
          <a:prstGeom prst="ellipse">
            <a:avLst/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044C130A-26E4-86FB-F8D9-80701E953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32" y="1931599"/>
            <a:ext cx="253746" cy="25374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B9B6986-30DE-4160-A802-AEB0E50AFBD8}"/>
              </a:ext>
            </a:extLst>
          </p:cNvPr>
          <p:cNvSpPr/>
          <p:nvPr/>
        </p:nvSpPr>
        <p:spPr>
          <a:xfrm>
            <a:off x="666440" y="2412294"/>
            <a:ext cx="34907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4F2683"/>
                </a:solidFill>
                <a:latin typeface="Times New Roman"/>
                <a:ea typeface="Tahoma"/>
                <a:cs typeface="Times New Roman"/>
              </a:rPr>
              <a:t>The Researchers 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29B620E-0726-3FB9-72E2-80A458215FDC}"/>
              </a:ext>
            </a:extLst>
          </p:cNvPr>
          <p:cNvSpPr/>
          <p:nvPr/>
        </p:nvSpPr>
        <p:spPr>
          <a:xfrm>
            <a:off x="638217" y="2971263"/>
            <a:ext cx="3490722" cy="375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>
                <a:solidFill>
                  <a:srgbClr val="818284"/>
                </a:solidFill>
                <a:latin typeface="Times New Roman"/>
                <a:ea typeface="+mn-lt"/>
                <a:cs typeface="Times New Roman"/>
              </a:rPr>
              <a:t>Pediatric researchers, clinical investigators &amp; research institutions</a:t>
            </a:r>
            <a:endParaRPr lang="en-US" sz="1400" i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81D9A62-8440-B49C-52AE-C1447198785F}"/>
              </a:ext>
            </a:extLst>
          </p:cNvPr>
          <p:cNvSpPr/>
          <p:nvPr/>
        </p:nvSpPr>
        <p:spPr>
          <a:xfrm>
            <a:off x="638218" y="3518155"/>
            <a:ext cx="349072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75">
                <a:solidFill>
                  <a:srgbClr val="8F55E0"/>
                </a:solidFill>
                <a:latin typeface="Times New Roman"/>
                <a:ea typeface="Tahoma"/>
                <a:cs typeface="Times New Roman"/>
              </a:rPr>
              <a:t>WHY THEY MATTER</a:t>
            </a:r>
            <a:endParaRPr lang="en-US" sz="1100" b="1">
              <a:latin typeface="Times New Roman"/>
              <a:ea typeface="Tahoma"/>
              <a:cs typeface="Times New Roman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0C55159-6ADC-C2A2-BE4B-B2EB1A4ED114}"/>
              </a:ext>
            </a:extLst>
          </p:cNvPr>
          <p:cNvSpPr/>
          <p:nvPr/>
        </p:nvSpPr>
        <p:spPr>
          <a:xfrm>
            <a:off x="638217" y="3989973"/>
            <a:ext cx="3490722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Identify evidence gaps, priority medications, and areas where pediatric data are limited.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18BF8B9-1051-6AF9-2A80-80E658C90B22}"/>
              </a:ext>
            </a:extLst>
          </p:cNvPr>
          <p:cNvSpPr/>
          <p:nvPr/>
        </p:nvSpPr>
        <p:spPr>
          <a:xfrm>
            <a:off x="638217" y="5325788"/>
            <a:ext cx="34907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Use working groups and consultations to identify research priorities, recruitment barriers, and areas needing funding.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4D2ADE0-883E-7D71-15A8-74D2EF2E6DC3}"/>
              </a:ext>
            </a:extLst>
          </p:cNvPr>
          <p:cNvSpPr/>
          <p:nvPr/>
        </p:nvSpPr>
        <p:spPr>
          <a:xfrm>
            <a:off x="4718304" y="1627999"/>
            <a:ext cx="4023218" cy="4743308"/>
          </a:xfrm>
          <a:prstGeom prst="roundRect">
            <a:avLst>
              <a:gd name="adj" fmla="val 2041"/>
            </a:avLst>
          </a:prstGeom>
          <a:solidFill>
            <a:srgbClr val="F2EDF8"/>
          </a:solidFill>
          <a:ln w="12700">
            <a:solidFill>
              <a:srgbClr val="DED2E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A7D26CE9-063C-7CA9-D9A1-8C81350BA144}"/>
              </a:ext>
            </a:extLst>
          </p:cNvPr>
          <p:cNvSpPr/>
          <p:nvPr/>
        </p:nvSpPr>
        <p:spPr>
          <a:xfrm>
            <a:off x="4956330" y="1800296"/>
            <a:ext cx="493776" cy="493776"/>
          </a:xfrm>
          <a:prstGeom prst="ellipse">
            <a:avLst/>
          </a:prstGeom>
          <a:solidFill>
            <a:srgbClr val="4F2683"/>
          </a:solidFill>
          <a:ln w="12700">
            <a:solidFill>
              <a:srgbClr val="4F268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F2E38836-B20A-8640-7205-20FDFB26A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6345" y="1931600"/>
            <a:ext cx="253746" cy="253746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0C100346-5FF1-A441-A5E6-70D7A7CFF9C7}"/>
              </a:ext>
            </a:extLst>
          </p:cNvPr>
          <p:cNvSpPr/>
          <p:nvPr/>
        </p:nvSpPr>
        <p:spPr>
          <a:xfrm>
            <a:off x="4945041" y="2547761"/>
            <a:ext cx="4117255" cy="443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>
                <a:solidFill>
                  <a:srgbClr val="4F2683"/>
                </a:solidFill>
                <a:latin typeface="Times New Roman"/>
                <a:ea typeface="Tahoma"/>
                <a:cs typeface="Times New Roman"/>
              </a:rPr>
              <a:t>The Pharmaceutical Companies 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6FE523B5-A209-26CC-E6A8-BC7BB8046112}"/>
              </a:ext>
            </a:extLst>
          </p:cNvPr>
          <p:cNvSpPr/>
          <p:nvPr/>
        </p:nvSpPr>
        <p:spPr>
          <a:xfrm>
            <a:off x="4978908" y="3242197"/>
            <a:ext cx="34907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>
                <a:solidFill>
                  <a:srgbClr val="818284"/>
                </a:solidFill>
                <a:latin typeface="Times New Roman"/>
                <a:ea typeface="+mn-lt"/>
                <a:cs typeface="Times New Roman"/>
              </a:rPr>
              <a:t>Pharmaceutical &amp; biotechnology companies</a:t>
            </a:r>
            <a:endParaRPr lang="en-US" sz="1400" i="1">
              <a:latin typeface="Times New Roman"/>
              <a:cs typeface="Times New Roman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CE2BA904-BBBB-F4C3-83A0-6FB1EABE246C}"/>
              </a:ext>
            </a:extLst>
          </p:cNvPr>
          <p:cNvSpPr/>
          <p:nvPr/>
        </p:nvSpPr>
        <p:spPr>
          <a:xfrm>
            <a:off x="4945041" y="3518154"/>
            <a:ext cx="349072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5">
                <a:solidFill>
                  <a:srgbClr val="8F55E0"/>
                </a:solidFill>
                <a:latin typeface="Times New Roman"/>
                <a:ea typeface="Tahoma"/>
                <a:cs typeface="Times New Roman"/>
              </a:rPr>
              <a:t>WHY THEY MATTER</a:t>
            </a:r>
            <a:endParaRPr lang="en-US" sz="1100">
              <a:latin typeface="Times New Roman"/>
              <a:ea typeface="Tahoma"/>
              <a:cs typeface="Times New Roman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588537D-A6C2-358D-4998-DD440C77E55B}"/>
              </a:ext>
            </a:extLst>
          </p:cNvPr>
          <p:cNvSpPr/>
          <p:nvPr/>
        </p:nvSpPr>
        <p:spPr>
          <a:xfrm>
            <a:off x="4978908" y="3696462"/>
            <a:ext cx="3490722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>
              <a:latin typeface="Arial"/>
              <a:ea typeface="Tahoma"/>
              <a:cs typeface="Arial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BED879F1-AEA7-C926-7E61-F45BA6DF49DD}"/>
              </a:ext>
            </a:extLst>
          </p:cNvPr>
          <p:cNvSpPr/>
          <p:nvPr/>
        </p:nvSpPr>
        <p:spPr>
          <a:xfrm>
            <a:off x="4956330" y="4938635"/>
            <a:ext cx="349072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5">
                <a:solidFill>
                  <a:srgbClr val="8F55E0"/>
                </a:solidFill>
                <a:latin typeface="Times New Roman"/>
                <a:ea typeface="Tahoma"/>
                <a:cs typeface="Times New Roman"/>
              </a:rPr>
              <a:t>HOW WE ENGAGE</a:t>
            </a:r>
            <a:endParaRPr lang="en-US" sz="1100">
              <a:latin typeface="Times New Roman"/>
              <a:ea typeface="Tahoma"/>
              <a:cs typeface="Times New Roman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DE9C242-5AF3-F516-284E-4258801F2803}"/>
              </a:ext>
            </a:extLst>
          </p:cNvPr>
          <p:cNvSpPr/>
          <p:nvPr/>
        </p:nvSpPr>
        <p:spPr>
          <a:xfrm>
            <a:off x="4945041" y="5325787"/>
            <a:ext cx="349072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Consult companies on financial and operational barriers and develop incentives that make pediatric research more feasible.</a:t>
            </a: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5BC097D0-D2EA-0955-54BE-7CC6A6DE36D6}"/>
              </a:ext>
            </a:extLst>
          </p:cNvPr>
          <p:cNvSpPr/>
          <p:nvPr/>
        </p:nvSpPr>
        <p:spPr>
          <a:xfrm>
            <a:off x="456636" y="6500397"/>
            <a:ext cx="8298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3" b="1" i="1">
                <a:solidFill>
                  <a:srgbClr val="4F268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Engaged from planning through implementation — and told what changed because of their input.</a:t>
            </a:r>
            <a:endParaRPr lang="en-US" sz="1013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7A9F82BB-B6AB-B844-347D-3E1935891A81}"/>
              </a:ext>
            </a:extLst>
          </p:cNvPr>
          <p:cNvSpPr/>
          <p:nvPr/>
        </p:nvSpPr>
        <p:spPr>
          <a:xfrm>
            <a:off x="4967507" y="3679529"/>
            <a:ext cx="3490722" cy="39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>
              <a:ea typeface="Calibri"/>
              <a:cs typeface="Calibri"/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7A0995E6-BA46-BFB6-D79D-BBA782BC53B5}"/>
              </a:ext>
            </a:extLst>
          </p:cNvPr>
          <p:cNvSpPr/>
          <p:nvPr/>
        </p:nvSpPr>
        <p:spPr>
          <a:xfrm>
            <a:off x="4950573" y="4091573"/>
            <a:ext cx="3490722" cy="45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latin typeface="Times New Roman"/>
                <a:ea typeface="+mn-lt"/>
                <a:cs typeface="Times New Roman"/>
              </a:rPr>
              <a:t>Industry investment is needed to increase pediatric clinical trials and generate more pediatric drug evidence.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BA3107-D61D-8556-AF6D-B16A70F4D3A4}"/>
              </a:ext>
            </a:extLst>
          </p:cNvPr>
          <p:cNvSpPr txBox="1"/>
          <p:nvPr/>
        </p:nvSpPr>
        <p:spPr>
          <a:xfrm>
            <a:off x="4946072" y="141964"/>
            <a:ext cx="41309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600">
                <a:solidFill>
                  <a:srgbClr val="4F2683"/>
                </a:solidFill>
                <a:latin typeface="Times New Roman"/>
                <a:cs typeface="Times New Roman"/>
              </a:rPr>
              <a:t>Increasing access to pediatric medication </a:t>
            </a:r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CC1CDC86-65B8-4627-08BD-FA3A2BDBFA59}"/>
              </a:ext>
            </a:extLst>
          </p:cNvPr>
          <p:cNvSpPr/>
          <p:nvPr/>
        </p:nvSpPr>
        <p:spPr>
          <a:xfrm>
            <a:off x="638218" y="4850243"/>
            <a:ext cx="3490722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75">
                <a:solidFill>
                  <a:srgbClr val="8F55E0"/>
                </a:solidFill>
                <a:latin typeface="Times New Roman"/>
                <a:ea typeface="Tahoma"/>
                <a:cs typeface="Times New Roman"/>
              </a:rPr>
              <a:t>HOW WE ENGAGE</a:t>
            </a:r>
          </a:p>
        </p:txBody>
      </p:sp>
    </p:spTree>
    <p:extLst>
      <p:ext uri="{BB962C8B-B14F-4D97-AF65-F5344CB8AC3E}">
        <p14:creationId xmlns:p14="http://schemas.microsoft.com/office/powerpoint/2010/main" val="1830556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10134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3B1F6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Risk Management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591809"/>
              </p:ext>
            </p:extLst>
          </p:nvPr>
        </p:nvGraphicFramePr>
        <p:xfrm>
          <a:off x="411480" y="1988820"/>
          <a:ext cx="8318754" cy="32766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1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Risk</a:t>
                      </a:r>
                      <a:endParaRPr lang="en-US" sz="160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Mitigation Strategy</a:t>
                      </a:r>
                      <a:endParaRPr lang="en-US" sz="160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Low participation from researchers/industry</a:t>
                      </a:r>
                      <a:endParaRPr lang="en-US" sz="160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Use targeted funding and incentives for high-need pediatric research areas.</a:t>
                      </a:r>
                      <a:endParaRPr lang="en-US" sz="160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Difficulty recruiting pediatric participants</a:t>
                      </a:r>
                      <a:endParaRPr lang="en-US" sz="160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Support multi-center trials and involve families and clinicians in study design.</a:t>
                      </a:r>
                      <a:endParaRPr lang="en-US" sz="160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Ethical and safety concerns</a:t>
                      </a:r>
                      <a:endParaRPr lang="en-US" sz="160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Maintain strong consent, assent, ethics review, and safety monitoring requirements.</a:t>
                      </a:r>
                      <a:endParaRPr lang="en-US" sz="160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Research may not translate into practice</a:t>
                      </a:r>
                      <a:endParaRPr lang="en-US" sz="160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>
                          <a:solidFill>
                            <a:srgbClr val="2B2B2B"/>
                          </a:solidFill>
                          <a:latin typeface="Times New Roman" panose="02020603050405020304" pitchFamily="18" charset="0"/>
                          <a:ea typeface="Arial" pitchFamily="34" charset="-122"/>
                          <a:cs typeface="Times New Roman" panose="02020603050405020304" pitchFamily="18" charset="0"/>
                        </a:rPr>
                        <a:t>Track whether findings improve pediatric dosing, safety information, and prescribing guidance.</a:t>
                      </a:r>
                      <a:endParaRPr lang="en-US" sz="1600">
                        <a:latin typeface="Times New Roman" panose="02020603050405020304" pitchFamily="18" charset="0"/>
                        <a:ea typeface="Arial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5692140"/>
            <a:ext cx="5486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Schulich Medicine &amp; Dentistry   |   Western Science</a:t>
            </a:r>
            <a:endParaRPr lang="en-US" sz="7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8DF741-BE8C-7FE8-D3CA-A0E1DFC4DE50}"/>
              </a:ext>
            </a:extLst>
          </p:cNvPr>
          <p:cNvSpPr txBox="1"/>
          <p:nvPr/>
        </p:nvSpPr>
        <p:spPr>
          <a:xfrm>
            <a:off x="4946072" y="141964"/>
            <a:ext cx="41309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600">
                <a:solidFill>
                  <a:srgbClr val="4F2683"/>
                </a:solidFill>
                <a:latin typeface="Times New Roman"/>
                <a:cs typeface="Times New Roman"/>
              </a:rPr>
              <a:t>Increasing access to pediatric medication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E9086D-2904-43E1-3359-BE31B382B76F}"/>
              </a:ext>
            </a:extLst>
          </p:cNvPr>
          <p:cNvSpPr txBox="1"/>
          <p:nvPr/>
        </p:nvSpPr>
        <p:spPr>
          <a:xfrm>
            <a:off x="297873" y="583396"/>
            <a:ext cx="5079211" cy="58477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CA" sz="3200" b="1">
                <a:solidFill>
                  <a:srgbClr val="3C1B71"/>
                </a:solidFill>
                <a:latin typeface="Times New Roman"/>
                <a:cs typeface="Times New Roman"/>
              </a:rPr>
              <a:t>Performance Measurement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1139FF-F995-A28D-BF97-A30D0886D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076925"/>
              </p:ext>
            </p:extLst>
          </p:nvPr>
        </p:nvGraphicFramePr>
        <p:xfrm>
          <a:off x="0" y="1308041"/>
          <a:ext cx="9144000" cy="4211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58751">
                  <a:extLst>
                    <a:ext uri="{9D8B030D-6E8A-4147-A177-3AD203B41FA5}">
                      <a16:colId xmlns:a16="http://schemas.microsoft.com/office/drawing/2014/main" val="1131659667"/>
                    </a:ext>
                  </a:extLst>
                </a:gridCol>
                <a:gridCol w="5985249">
                  <a:extLst>
                    <a:ext uri="{9D8B030D-6E8A-4147-A177-3AD203B41FA5}">
                      <a16:colId xmlns:a16="http://schemas.microsoft.com/office/drawing/2014/main" val="299711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 measurement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952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 the solution made a difference?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Pediatric trials have increased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enrollment of children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to new treatments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partnerships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58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will the future be like if successful?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Children will receive treatments that are designed for them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Families will feel supported and confident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Physicians will be engaged as leaders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entire healthcare system will work together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12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is it measured?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dashboards and monthly reports from research offices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at training and quality of safety reporting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stakeholders and partnerships involved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 outcome data and updates from pediatric groups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3721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2EB8B7-FA31-8E26-AA82-059CBE422BBA}"/>
              </a:ext>
            </a:extLst>
          </p:cNvPr>
          <p:cNvSpPr txBox="1"/>
          <p:nvPr/>
        </p:nvSpPr>
        <p:spPr>
          <a:xfrm>
            <a:off x="4946072" y="141964"/>
            <a:ext cx="41309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600">
                <a:solidFill>
                  <a:srgbClr val="4F2683"/>
                </a:solidFill>
                <a:latin typeface="Times New Roman"/>
                <a:cs typeface="Times New Roman"/>
              </a:rPr>
              <a:t>Increasing access to pediatric medication </a:t>
            </a:r>
          </a:p>
        </p:txBody>
      </p:sp>
    </p:spTree>
    <p:extLst>
      <p:ext uri="{BB962C8B-B14F-4D97-AF65-F5344CB8AC3E}">
        <p14:creationId xmlns:p14="http://schemas.microsoft.com/office/powerpoint/2010/main" val="38944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807643"/>
            <a:ext cx="8366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75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itchFamily="34" charset="0"/>
                <a:ea typeface="Tahoma" pitchFamily="34" charset="-122"/>
                <a:cs typeface="Tahoma" pitchFamily="34" charset="-120"/>
              </a:rPr>
              <a:t>Conclusion</a:t>
            </a:r>
            <a:endParaRPr kumimoji="0" lang="en-US" sz="187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77190" y="1356283"/>
            <a:ext cx="8387334" cy="925830"/>
          </a:xfrm>
          <a:prstGeom prst="roundRect">
            <a:avLst>
              <a:gd name="adj" fmla="val 7407"/>
            </a:avLst>
          </a:prstGeom>
          <a:solidFill>
            <a:srgbClr val="3D1D66"/>
          </a:solidFill>
          <a:ln w="12700">
            <a:solidFill>
              <a:srgbClr val="5F3D8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1510" y="1493443"/>
            <a:ext cx="78181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88" b="1" i="0" u="none" strike="noStrike" kern="0" cap="none" spc="75" normalizeH="0" baseline="0" noProof="0">
                <a:ln>
                  <a:noFill/>
                </a:ln>
                <a:solidFill>
                  <a:srgbClr val="7DEAFB"/>
                </a:solidFill>
                <a:effectLst/>
                <a:uLnTx/>
                <a:uFillTx/>
                <a:latin typeface="Tahoma" pitchFamily="34" charset="0"/>
                <a:ea typeface="Tahoma" pitchFamily="34" charset="-122"/>
                <a:cs typeface="Tahoma" pitchFamily="34" charset="-120"/>
              </a:rPr>
              <a:t>OUR OBJECTIVE</a:t>
            </a:r>
            <a:endParaRPr kumimoji="0" lang="en-US" sz="7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1510" y="1685467"/>
            <a:ext cx="78181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itchFamily="34" charset="0"/>
                <a:ea typeface="Tahoma" pitchFamily="34" charset="-122"/>
                <a:cs typeface="Tahoma" pitchFamily="34" charset="-120"/>
              </a:rPr>
              <a:t>Increase access to pediatric medication by advancing clinical trials — designed with the people it affects.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0735" y="2596183"/>
            <a:ext cx="2640330" cy="2160270"/>
          </a:xfrm>
          <a:prstGeom prst="roundRect">
            <a:avLst>
              <a:gd name="adj" fmla="val 3175"/>
            </a:avLst>
          </a:prstGeom>
          <a:solidFill>
            <a:srgbClr val="3D1D66"/>
          </a:solidFill>
          <a:ln w="12700">
            <a:solidFill>
              <a:srgbClr val="5F3D8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1339" y="2733343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>
                <a:ln>
                  <a:noFill/>
                </a:ln>
                <a:solidFill>
                  <a:srgbClr val="7DEAFB"/>
                </a:solidFill>
                <a:effectLst/>
                <a:uLnTx/>
                <a:uFillTx/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kumimoji="0" lang="en-US" sz="1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1339" y="3131107"/>
            <a:ext cx="21191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itchFamily="34" charset="0"/>
                <a:ea typeface="Tahoma" pitchFamily="34" charset="-122"/>
                <a:cs typeface="Tahoma" pitchFamily="34" charset="-120"/>
              </a:rPr>
              <a:t>Children are still dosed on adult evidence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1339" y="3679747"/>
            <a:ext cx="211912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8" b="0" i="0" u="none" strike="noStrike" kern="1200" cap="none" spc="0" normalizeH="0" baseline="0" noProof="0">
                <a:ln>
                  <a:noFill/>
                </a:ln>
                <a:solidFill>
                  <a:srgbClr val="DCCFEC"/>
                </a:solidFill>
                <a:effectLst/>
                <a:uLnTx/>
                <a:uFillTx/>
                <a:latin typeface="Tahoma" pitchFamily="34" charset="0"/>
                <a:ea typeface="Tahoma" pitchFamily="34" charset="-122"/>
                <a:cs typeface="Tahoma" pitchFamily="34" charset="-120"/>
              </a:rPr>
              <a:t>Diluting adult medication is not a substitute for pediatric data — only trials replace extrapolation with evidence.</a:t>
            </a:r>
            <a:endParaRPr kumimoji="0" lang="en-US" sz="9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59947" y="2596183"/>
            <a:ext cx="2640330" cy="2160270"/>
          </a:xfrm>
          <a:prstGeom prst="roundRect">
            <a:avLst>
              <a:gd name="adj" fmla="val 3175"/>
            </a:avLst>
          </a:prstGeom>
          <a:solidFill>
            <a:srgbClr val="3D1D66"/>
          </a:solidFill>
          <a:ln w="12700">
            <a:solidFill>
              <a:srgbClr val="5F3D8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20551" y="2733343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>
                <a:ln>
                  <a:noFill/>
                </a:ln>
                <a:solidFill>
                  <a:srgbClr val="7DEAFB"/>
                </a:solidFill>
                <a:effectLst/>
                <a:uLnTx/>
                <a:uFillTx/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kumimoji="0" lang="en-US" sz="1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20551" y="3131107"/>
            <a:ext cx="21191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itchFamily="34" charset="0"/>
                <a:ea typeface="Tahoma" pitchFamily="34" charset="-122"/>
                <a:cs typeface="Tahoma" pitchFamily="34" charset="-120"/>
              </a:rPr>
              <a:t>Engagement is the mechanism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20551" y="3679747"/>
            <a:ext cx="211912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8" b="0" i="0" u="none" strike="noStrike" kern="1200" cap="none" spc="0" normalizeH="0" baseline="0" noProof="0">
                <a:ln>
                  <a:noFill/>
                </a:ln>
                <a:solidFill>
                  <a:srgbClr val="DCCFEC"/>
                </a:solidFill>
                <a:effectLst/>
                <a:uLnTx/>
                <a:uFillTx/>
                <a:latin typeface="Tahoma" pitchFamily="34" charset="0"/>
                <a:ea typeface="Tahoma" pitchFamily="34" charset="-122"/>
                <a:cs typeface="Tahoma" pitchFamily="34" charset="-120"/>
              </a:rPr>
              <a:t>The barriers cut across the system, so every group — families, physicians, industry, regulators, government — has a defined role, RACI and timeline.</a:t>
            </a:r>
            <a:endParaRPr kumimoji="0" lang="en-US" sz="9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99159" y="2596183"/>
            <a:ext cx="2640330" cy="2160270"/>
          </a:xfrm>
          <a:prstGeom prst="roundRect">
            <a:avLst>
              <a:gd name="adj" fmla="val 3175"/>
            </a:avLst>
          </a:prstGeom>
          <a:solidFill>
            <a:srgbClr val="3D1D66"/>
          </a:solidFill>
          <a:ln w="12700">
            <a:solidFill>
              <a:srgbClr val="5F3D8F"/>
            </a:solidFill>
            <a:prstDash val="solid"/>
          </a:ln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59763" y="2733343"/>
            <a:ext cx="8229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50" b="1" i="0" u="none" strike="noStrike" kern="1200" cap="none" spc="0" normalizeH="0" baseline="0" noProof="0">
                <a:ln>
                  <a:noFill/>
                </a:ln>
                <a:solidFill>
                  <a:srgbClr val="7DEAFB"/>
                </a:solidFill>
                <a:effectLst/>
                <a:uLnTx/>
                <a:uFillTx/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kumimoji="0" lang="en-US" sz="1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59763" y="3131107"/>
            <a:ext cx="21191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>
              <a:defRPr/>
            </a:pPr>
            <a:r>
              <a:rPr lang="en-US" sz="12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Recommendations are integrated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Tahoma"/>
              <a:cs typeface="Tahom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59763" y="3679747"/>
            <a:ext cx="211912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8" b="0" i="0" u="none" strike="noStrike" kern="1200" cap="none" spc="0" normalizeH="0" baseline="0" noProof="0">
                <a:ln>
                  <a:noFill/>
                </a:ln>
                <a:solidFill>
                  <a:srgbClr val="DCCFEC"/>
                </a:solidFill>
                <a:effectLst/>
                <a:uLnTx/>
                <a:uFillTx/>
                <a:latin typeface="Tahoma" pitchFamily="34" charset="0"/>
                <a:ea typeface="Tahoma" pitchFamily="34" charset="-122"/>
                <a:cs typeface="Tahoma" pitchFamily="34" charset="-120"/>
              </a:rPr>
              <a:t>Every recommendation is logged as adopt, adapt or not adopt, and reported back through “What We Heard / What Changed”.</a:t>
            </a:r>
            <a:endParaRPr kumimoji="0" lang="en-US" sz="93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7190" y="5280660"/>
            <a:ext cx="83667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5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itchFamily="34" charset="0"/>
                <a:ea typeface="Tahoma" pitchFamily="34" charset="-122"/>
                <a:cs typeface="Tahoma" pitchFamily="34" charset="-120"/>
              </a:rPr>
              <a:t>Better evidence for children begins with the people who live it.</a:t>
            </a:r>
            <a:endParaRPr kumimoji="0" lang="en-US" sz="112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96198B-AECB-D0A5-14E4-0FBDEA666B85}"/>
              </a:ext>
            </a:extLst>
          </p:cNvPr>
          <p:cNvSpPr txBox="1"/>
          <p:nvPr/>
        </p:nvSpPr>
        <p:spPr>
          <a:xfrm>
            <a:off x="4946072" y="141964"/>
            <a:ext cx="41309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Times New Roman"/>
                <a:cs typeface="Times New Roman"/>
              </a:rPr>
              <a:t>Increasing access to pediatric medication </a:t>
            </a:r>
          </a:p>
        </p:txBody>
      </p:sp>
    </p:spTree>
    <p:extLst>
      <p:ext uri="{BB962C8B-B14F-4D97-AF65-F5344CB8AC3E}">
        <p14:creationId xmlns:p14="http://schemas.microsoft.com/office/powerpoint/2010/main" val="68495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72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15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7F395B9F1ED149A30CE9FE7CAF2FDE" ma:contentTypeVersion="5" ma:contentTypeDescription="Create a new document." ma:contentTypeScope="" ma:versionID="cb21cc2d2b9a9ebc3c60eb15423ad17f">
  <xsd:schema xmlns:xsd="http://www.w3.org/2001/XMLSchema" xmlns:xs="http://www.w3.org/2001/XMLSchema" xmlns:p="http://schemas.microsoft.com/office/2006/metadata/properties" xmlns:ns3="353802f7-ae92-4eb0-adcc-d3bdada1fc17" targetNamespace="http://schemas.microsoft.com/office/2006/metadata/properties" ma:root="true" ma:fieldsID="4810f02c83b0ec6574644b09352ed4f4" ns3:_="">
    <xsd:import namespace="353802f7-ae92-4eb0-adcc-d3bdada1fc1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3802f7-ae92-4eb0-adcc-d3bdada1fc1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53802f7-ae92-4eb0-adcc-d3bdada1fc17" xsi:nil="true"/>
  </documentManagement>
</p:properties>
</file>

<file path=customXml/itemProps1.xml><?xml version="1.0" encoding="utf-8"?>
<ds:datastoreItem xmlns:ds="http://schemas.openxmlformats.org/officeDocument/2006/customXml" ds:itemID="{377C65EC-8A55-479F-9EC0-EFEDEA2154EE}">
  <ds:schemaRefs>
    <ds:schemaRef ds:uri="353802f7-ae92-4eb0-adcc-d3bdada1fc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B5B1533-DBC5-4A13-AA2B-F63A3B322F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37AA49-01AD-4E01-93CD-8738B7D9B18A}">
  <ds:schemaRefs>
    <ds:schemaRef ds:uri="353802f7-ae92-4eb0-adcc-d3bdada1fc1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UWO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Jennifer Wilson</dc:creator>
  <cp:revision>5</cp:revision>
  <cp:lastPrinted>2012-01-12T15:01:17Z</cp:lastPrinted>
  <dcterms:created xsi:type="dcterms:W3CDTF">2011-12-23T15:22:14Z</dcterms:created>
  <dcterms:modified xsi:type="dcterms:W3CDTF">2026-08-26T01:52:30Z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0x0101002F7F395B9F1ED149A30CE9FE7CAF2FDE</vt:lpwstr>
  </property>
</Properties>
</file>